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71" r:id="rId9"/>
    <p:sldId id="278" r:id="rId10"/>
    <p:sldId id="265" r:id="rId11"/>
    <p:sldId id="279" r:id="rId12"/>
    <p:sldId id="274" r:id="rId13"/>
    <p:sldId id="272" r:id="rId14"/>
    <p:sldId id="275" r:id="rId15"/>
    <p:sldId id="277" r:id="rId16"/>
    <p:sldId id="267" r:id="rId17"/>
  </p:sldIdLst>
  <p:sldSz cx="9144000" cy="5143500" type="screen16x9"/>
  <p:notesSz cx="6858000" cy="9144000"/>
  <p:embeddedFontLst>
    <p:embeddedFont>
      <p:font typeface="Economica" panose="020B0604020202020204" charset="0"/>
      <p:regular r:id="rId19"/>
      <p:bold r:id="rId20"/>
      <p:italic r:id="rId21"/>
      <p:boldItalic r:id="rId22"/>
    </p:embeddedFont>
    <p:embeddedFont>
      <p:font typeface="Open Sans" panose="020B060603050402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04363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5396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11396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48983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42708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45940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42228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Пустой слайд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752110" y="1164200"/>
            <a:ext cx="4903450" cy="153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Програмна</a:t>
            </a:r>
            <a:r>
              <a:rPr lang="ru-RU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система для </a:t>
            </a:r>
            <a:r>
              <a:rPr lang="ru-RU" sz="2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пошуку</a:t>
            </a:r>
            <a:r>
              <a:rPr lang="ru-RU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2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загублених</a:t>
            </a:r>
            <a:r>
              <a:rPr lang="ru-RU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і </a:t>
            </a:r>
            <a:r>
              <a:rPr lang="ru-RU" sz="2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знайдених</a:t>
            </a:r>
            <a:r>
              <a:rPr lang="ru-RU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2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домашніх</a:t>
            </a:r>
            <a:r>
              <a:rPr lang="ru-RU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тварин. </a:t>
            </a:r>
            <a:r>
              <a:rPr lang="ru-RU" sz="2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Вебзастосунок</a:t>
            </a:r>
            <a:r>
              <a:rPr lang="ru-RU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панель </a:t>
            </a:r>
            <a:r>
              <a:rPr lang="ru-RU" sz="2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адміністратора</a:t>
            </a:r>
            <a:endParaRPr lang="ru-RU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700050" y="3533241"/>
            <a:ext cx="6179750" cy="15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Холошин </a:t>
            </a: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І. А. ПЗПІ-23-2</a:t>
            </a:r>
            <a:endParaRPr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Керівник: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ст.викл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кафедри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ПІ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Марія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ШИРОКОПЕТЛЄВА</a:t>
            </a:r>
            <a:endParaRPr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10 червня 2025</a:t>
            </a:r>
            <a:endParaRPr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Мета роботи</a:t>
            </a:r>
            <a:endParaRPr sz="3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uk-UA" sz="18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Мета розробки – створення </a:t>
            </a:r>
            <a:r>
              <a:rPr lang="uk-UA" sz="1800" dirty="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вебзастосунку</a:t>
            </a:r>
            <a:r>
              <a:rPr lang="uk-UA" sz="18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для адміністрування платформи з пошуку загублених тварин, що надає можливість керувати користувачами, оголошеннями, коментарями та точками інтересу.</a:t>
            </a:r>
            <a:endParaRPr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872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</a:t>
            </a:fld>
            <a:endParaRPr lang="uk-UA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Аналіз існуючих рішень</a:t>
            </a:r>
            <a:endParaRPr sz="3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72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fld>
            <a:endParaRPr lang="uk-UA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27408DC-AA78-C2E9-65FD-1C6F2DF9D5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518" y="1360174"/>
            <a:ext cx="4319275" cy="206189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5C33EFA-0061-766D-CE51-9B396792EA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0961" y="1360174"/>
            <a:ext cx="4524537" cy="21598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4C504F9-2C5A-022E-B4AC-6D8CECB18D8D}"/>
              </a:ext>
            </a:extLst>
          </p:cNvPr>
          <p:cNvSpPr txBox="1"/>
          <p:nvPr/>
        </p:nvSpPr>
        <p:spPr>
          <a:xfrm>
            <a:off x="1794163" y="3673947"/>
            <a:ext cx="7649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Pet911</a:t>
            </a:r>
            <a:endParaRPr lang="ru-UA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E5CFD6-B35D-5139-244E-7543839E054D}"/>
              </a:ext>
            </a:extLst>
          </p:cNvPr>
          <p:cNvSpPr txBox="1"/>
          <p:nvPr/>
        </p:nvSpPr>
        <p:spPr>
          <a:xfrm>
            <a:off x="6242819" y="3673946"/>
            <a:ext cx="1120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Happy Paw</a:t>
            </a:r>
            <a:endParaRPr lang="ru-UA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Постановка задачі та опис системи</a:t>
            </a:r>
            <a:endParaRPr sz="3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876301"/>
            <a:ext cx="8520600" cy="3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Aft>
                <a:spcPts val="0"/>
              </a:spcAft>
              <a:buNone/>
            </a:pP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Задача –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спроєктувати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та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програмно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реалізувати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фронтенд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частину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системи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solidFill>
                  <a:srgbClr val="0D0D0D"/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PetFound</a:t>
            </a: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Система в  цілому: мобільний застосунок + </a:t>
            </a:r>
            <a:r>
              <a:rPr lang="uk-UA" dirty="0" err="1">
                <a:solidFill>
                  <a:srgbClr val="0D0D0D"/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вебзастосунок</a:t>
            </a: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+ єдине серверне ядро з базою даних.</a:t>
            </a: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-UA" dirty="0" err="1">
                <a:solidFill>
                  <a:srgbClr val="0D0D0D"/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Вебзастосунок</a:t>
            </a: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має забезпечити:</a:t>
            </a:r>
          </a:p>
          <a:p>
            <a:pPr marL="285750" indent="-28575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управління наявними оголошеннями;</a:t>
            </a:r>
          </a:p>
          <a:p>
            <a:pPr marL="285750" indent="-28575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управління користувачами;</a:t>
            </a:r>
          </a:p>
          <a:p>
            <a:pPr marL="285750" indent="-28575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управління коментарями;</a:t>
            </a:r>
          </a:p>
          <a:p>
            <a:pPr marL="285750" indent="-28575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управління </a:t>
            </a:r>
            <a:r>
              <a:rPr lang="uk-UA" dirty="0" err="1">
                <a:solidFill>
                  <a:srgbClr val="0D0D0D"/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геоміток</a:t>
            </a: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;</a:t>
            </a:r>
          </a:p>
          <a:p>
            <a:pPr marL="285750" indent="-28575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перегляд статистики.</a:t>
            </a: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72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fld>
            <a:endParaRPr lang="uk-UA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Вибір технологій розробки </a:t>
            </a:r>
            <a:endParaRPr sz="3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311700" y="800100"/>
            <a:ext cx="8520600" cy="37791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285750" lvl="0" indent="-285750" algn="l" rtl="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мова 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TypeScript,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бібліотека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React 18,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збірник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Vite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;</a:t>
            </a:r>
            <a:endParaRPr lang="uk-UA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lvl="0" indent="-285750" algn="l" rtl="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Tailwind CSS –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стилізація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компонентів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без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написання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власних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CSS-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файлів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;</a:t>
            </a:r>
          </a:p>
          <a:p>
            <a:pPr marL="285750" lvl="0" indent="-285750" algn="l" rtl="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React Router –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клієнтська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маршрутизація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між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сторінками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;</a:t>
            </a:r>
          </a:p>
          <a:p>
            <a:pPr marL="285750" lvl="0" indent="-285750" algn="l" rtl="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TanStack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Query (React Query) +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Axios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–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отримання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даних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із 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REST API,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кешування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та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керування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станом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запитів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;</a:t>
            </a:r>
          </a:p>
          <a:p>
            <a:pPr marL="285750" lvl="0" indent="-285750" algn="l" rtl="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React Hook Form + Zod –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керування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формами та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валідація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даних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на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стороні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клієнта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;</a:t>
            </a:r>
          </a:p>
          <a:p>
            <a:pPr marL="285750" lvl="0" indent="-285750" algn="l" rtl="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Recharts –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побудова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інтерактивних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графіків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на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сторінці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статистики;</a:t>
            </a:r>
          </a:p>
          <a:p>
            <a:pPr marL="285750" lvl="0" indent="-285750" algn="l" rtl="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React Leaflet –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відображення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інтерактивних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карт для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геоміток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та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оголошень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;</a:t>
            </a:r>
          </a:p>
          <a:p>
            <a:pPr marL="285750" lvl="0" indent="-285750" algn="l" rtl="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@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react-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oauth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/google –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автентифікація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через 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Google OAuth (ID-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токени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);</a:t>
            </a:r>
          </a:p>
          <a:p>
            <a:pPr marL="285750" lvl="0" indent="-285750" algn="l" rtl="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React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Toastify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–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відображення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сповіщень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про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результати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операцій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72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</a:t>
            </a:fld>
            <a:endParaRPr lang="uk-UA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31240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Програмне забезпечення, що було використано у дослідженні</a:t>
            </a:r>
            <a:endParaRPr sz="3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311700" y="1272540"/>
            <a:ext cx="8520600" cy="30869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285750" lvl="0" indent="-28575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Visual Studio Code –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середовище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розробки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фронтенду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;</a:t>
            </a:r>
          </a:p>
          <a:p>
            <a:pPr marL="285750" lvl="0" indent="-28575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Swagger UI – 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перегляд 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REST API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бекенду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;</a:t>
            </a:r>
          </a:p>
          <a:p>
            <a:pPr marL="285750" lvl="0" indent="-28575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Postman –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відлагодження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і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перевірка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REST-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запитів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;</a:t>
            </a:r>
          </a:p>
          <a:p>
            <a:pPr marL="285750" lvl="0" indent="-28575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draw.io –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діаграми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компонентів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та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схеми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інтерфейсу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;</a:t>
            </a:r>
          </a:p>
          <a:p>
            <a:pPr marL="285750" lvl="0" indent="-28575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Git + GitHub – 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контроль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версій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та 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CI/CD;</a:t>
            </a:r>
            <a:endParaRPr lang="uk-UA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lvl="0" indent="-28575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Google Cloud Console –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налаштування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OAuth 2.0 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для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автентифікації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через 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Google;</a:t>
            </a:r>
            <a:endParaRPr lang="uk-UA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lvl="0" indent="-28575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Chrome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DevTools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–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відлагодження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інтерфейсу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та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мережевих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запитів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26AFC1-F793-030A-440F-FC50C3AEF715}"/>
              </a:ext>
            </a:extLst>
          </p:cNvPr>
          <p:cNvSpPr txBox="1"/>
          <p:nvPr/>
        </p:nvSpPr>
        <p:spPr>
          <a:xfrm>
            <a:off x="8778240" y="4606349"/>
            <a:ext cx="2872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6</a:t>
            </a:fld>
            <a:endParaRPr lang="uk-UA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Приклад реалізації</a:t>
            </a:r>
            <a:endParaRPr sz="3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72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7</a:t>
            </a:fld>
            <a:endParaRPr lang="uk-UA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9AA6B14C-B6DC-34FC-E891-F4F7005B6E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8924" y="678302"/>
            <a:ext cx="5232715" cy="3809878"/>
          </a:xfrm>
        </p:spPr>
        <p:txBody>
          <a:bodyPr>
            <a:normAutofit/>
          </a:bodyPr>
          <a:lstStyle/>
          <a:p>
            <a:pPr marL="114300" indent="0">
              <a:lnSpc>
                <a:spcPct val="160000"/>
              </a:lnSpc>
              <a:buNone/>
            </a:pP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Оновлення сесії користувача</a:t>
            </a:r>
            <a:endParaRPr lang="ru-UA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093810E-D72A-2853-0F6C-D77E53D7FC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2109" y="196759"/>
            <a:ext cx="3539837" cy="47923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Приклад реалізації</a:t>
            </a:r>
            <a:endParaRPr sz="3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72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8</a:t>
            </a:fld>
            <a:endParaRPr lang="uk-UA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9AA6B14C-B6DC-34FC-E891-F4F7005B6E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8924" y="678302"/>
            <a:ext cx="8651341" cy="731398"/>
          </a:xfrm>
        </p:spPr>
        <p:txBody>
          <a:bodyPr>
            <a:normAutofit/>
          </a:bodyPr>
          <a:lstStyle/>
          <a:p>
            <a:pPr marL="114300" indent="0">
              <a:lnSpc>
                <a:spcPct val="160000"/>
              </a:lnSpc>
              <a:buNone/>
            </a:pP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Обробник помилок</a:t>
            </a:r>
            <a:endParaRPr lang="ru-UA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C89C444-675A-35D4-5F00-0BE3B6E9D3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5700" y="1297323"/>
            <a:ext cx="6572599" cy="364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276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202250"/>
            <a:ext cx="5591548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Архітектура програмного забезпечення</a:t>
            </a:r>
            <a:endParaRPr sz="3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9</a:t>
            </a:fld>
            <a:endParaRPr lang="uk-UA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94DE59-EBFB-26ED-101B-0C5CEAE2A027}"/>
              </a:ext>
            </a:extLst>
          </p:cNvPr>
          <p:cNvSpPr txBox="1"/>
          <p:nvPr/>
        </p:nvSpPr>
        <p:spPr>
          <a:xfrm>
            <a:off x="288591" y="1033550"/>
            <a:ext cx="28771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Діаграма послідовності фільтрації та пагінації</a:t>
            </a:r>
            <a:endParaRPr lang="ru-UA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5AE5728-D6E1-D137-ACC2-9919F3A2BD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190" y="900545"/>
            <a:ext cx="5492220" cy="40407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72621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Інтерфейс користувача </a:t>
            </a:r>
            <a:endParaRPr sz="3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10</a:t>
            </a:fld>
            <a:endParaRPr lang="uk-UA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97AE633-BCC7-86BD-E8D5-6EBC5E264D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0057" y="1432560"/>
            <a:ext cx="3219987" cy="332767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5D319F6-8BCC-5DE9-A9B5-0C1053C990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9371" y="721748"/>
            <a:ext cx="3205392" cy="40384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94DE59-EBFB-26ED-101B-0C5CEAE2A027}"/>
              </a:ext>
            </a:extLst>
          </p:cNvPr>
          <p:cNvSpPr txBox="1"/>
          <p:nvPr/>
        </p:nvSpPr>
        <p:spPr>
          <a:xfrm>
            <a:off x="268925" y="808067"/>
            <a:ext cx="3456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Автентифікація та реєстрація</a:t>
            </a:r>
            <a:endParaRPr lang="ru-UA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4114"/>
            <a:ext cx="5591548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Інтерфейс користувача</a:t>
            </a:r>
            <a:endParaRPr sz="3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11</a:t>
            </a:fld>
            <a:endParaRPr lang="uk-UA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94DE59-EBFB-26ED-101B-0C5CEAE2A027}"/>
              </a:ext>
            </a:extLst>
          </p:cNvPr>
          <p:cNvSpPr txBox="1"/>
          <p:nvPr/>
        </p:nvSpPr>
        <p:spPr>
          <a:xfrm>
            <a:off x="288590" y="583277"/>
            <a:ext cx="8684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Управління оголошеннями</a:t>
            </a:r>
            <a:endParaRPr lang="ru-UA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756C45F-87C6-5A9A-AF0F-7610A72854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1874" y="0"/>
            <a:ext cx="3014602" cy="4965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07B7B75-3CD6-1174-8DA3-04831018C38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759" r="17695"/>
          <a:stretch/>
        </p:blipFill>
        <p:spPr>
          <a:xfrm>
            <a:off x="268925" y="1032164"/>
            <a:ext cx="5246810" cy="393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48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Інтерфейс користувача </a:t>
            </a:r>
            <a:endParaRPr sz="3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12</a:t>
            </a:fld>
            <a:endParaRPr lang="uk-UA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94DE59-EBFB-26ED-101B-0C5CEAE2A027}"/>
              </a:ext>
            </a:extLst>
          </p:cNvPr>
          <p:cNvSpPr txBox="1"/>
          <p:nvPr/>
        </p:nvSpPr>
        <p:spPr>
          <a:xfrm>
            <a:off x="268925" y="808067"/>
            <a:ext cx="2592039" cy="1710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uk-UA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Детальна інформація про оголошення, із функціоналом управління.</a:t>
            </a:r>
            <a:endParaRPr lang="ru-UA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575D229-9F5F-ECC9-796C-FC9561C45A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780" y="687680"/>
            <a:ext cx="5440681" cy="426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566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Інтерфейс користувача </a:t>
            </a:r>
            <a:endParaRPr sz="3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13</a:t>
            </a:fld>
            <a:endParaRPr lang="uk-UA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94DE59-EBFB-26ED-101B-0C5CEAE2A027}"/>
              </a:ext>
            </a:extLst>
          </p:cNvPr>
          <p:cNvSpPr txBox="1"/>
          <p:nvPr/>
        </p:nvSpPr>
        <p:spPr>
          <a:xfrm>
            <a:off x="268925" y="687680"/>
            <a:ext cx="3265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Управління користувачами</a:t>
            </a:r>
            <a:endParaRPr lang="ru-UA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A3ECCA3-D820-8D2F-CE6E-2524FE64E8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286" r="17302"/>
          <a:stretch/>
        </p:blipFill>
        <p:spPr>
          <a:xfrm>
            <a:off x="268925" y="1170571"/>
            <a:ext cx="5106639" cy="377067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EC5975B-B604-C4C8-5BDD-5313ED810E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0033" y="571585"/>
            <a:ext cx="2678843" cy="443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707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Інтерфейс користувача </a:t>
            </a:r>
            <a:endParaRPr sz="3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14</a:t>
            </a:fld>
            <a:endParaRPr lang="uk-UA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94DE59-EBFB-26ED-101B-0C5CEAE2A027}"/>
              </a:ext>
            </a:extLst>
          </p:cNvPr>
          <p:cNvSpPr txBox="1"/>
          <p:nvPr/>
        </p:nvSpPr>
        <p:spPr>
          <a:xfrm>
            <a:off x="113757" y="3422113"/>
            <a:ext cx="4320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Управління постійними </a:t>
            </a:r>
            <a:r>
              <a:rPr lang="uk-UA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геомітками</a:t>
            </a:r>
            <a:endParaRPr lang="ru-UA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87A429E-66CA-C88C-10EB-AD9454CF7C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407" r="16701" b="30709"/>
          <a:stretch/>
        </p:blipFill>
        <p:spPr>
          <a:xfrm>
            <a:off x="200252" y="1093681"/>
            <a:ext cx="4371748" cy="2246997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88ED180-532C-4C03-2D68-D3D999E563A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253" r="17400"/>
          <a:stretch/>
        </p:blipFill>
        <p:spPr>
          <a:xfrm>
            <a:off x="4758161" y="1501263"/>
            <a:ext cx="4215004" cy="31050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A084D5-89C9-DC8F-86FD-C2CCE4652730}"/>
              </a:ext>
            </a:extLst>
          </p:cNvPr>
          <p:cNvSpPr txBox="1"/>
          <p:nvPr/>
        </p:nvSpPr>
        <p:spPr>
          <a:xfrm>
            <a:off x="4705211" y="1106707"/>
            <a:ext cx="4320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Управління коментарями</a:t>
            </a:r>
            <a:endParaRPr lang="ru-UA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8062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Інтерфейс користувача </a:t>
            </a:r>
            <a:endParaRPr sz="3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15</a:t>
            </a:fld>
            <a:endParaRPr lang="uk-UA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94DE59-EBFB-26ED-101B-0C5CEAE2A027}"/>
              </a:ext>
            </a:extLst>
          </p:cNvPr>
          <p:cNvSpPr txBox="1"/>
          <p:nvPr/>
        </p:nvSpPr>
        <p:spPr>
          <a:xfrm>
            <a:off x="268925" y="808067"/>
            <a:ext cx="8684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Перегляд статистики</a:t>
            </a:r>
            <a:endParaRPr lang="ru-UA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956440C-119A-DE38-A2D1-18C288D9D82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816" r="17621"/>
          <a:stretch/>
        </p:blipFill>
        <p:spPr>
          <a:xfrm>
            <a:off x="3276600" y="808067"/>
            <a:ext cx="5512925" cy="412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496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Підсумки </a:t>
            </a:r>
            <a:endParaRPr sz="3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311700" y="693420"/>
            <a:ext cx="8520600" cy="3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285750" lvl="0" indent="-28575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Розроблено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повнофункціональний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веб-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клієнт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адміністративної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панелі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PetFound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для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управління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платформою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пошуку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загублених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і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знайдених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тварин –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усі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поставлені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вимоги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реалізовано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в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повному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обсязі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marL="285750" lvl="0" indent="-28575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Реалізовано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сторінки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управління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користувачами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оголошеннями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геомітками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та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коментарями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з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фільтрацією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пошуком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пагінацією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та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детальним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переглядом, а також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сторінку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статистики з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інтерактивними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графіками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marL="285750" lvl="0" indent="-28575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Реалізовано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автентифікацію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через 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email/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пароль та 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Google OAuth 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використанням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JWT-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токенів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і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автоматичним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оновленням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сесії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marL="285750" lvl="0" indent="-28575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Прийняті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рішення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–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модульна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структура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компонентів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кешування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й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інвалідація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запитів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через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TanStack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Query,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централізована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обробка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помилок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через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Axios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інтерцептори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–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забезпечили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масштабованість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інтерфейсу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та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зручність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підтримки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коду.</a:t>
            </a:r>
            <a:endParaRPr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16</a:t>
            </a:fld>
            <a:endParaRPr lang="uk-UA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Шаблон_презентації_до_ККП_бакалавра_2025 (1)</Template>
  <TotalTime>122</TotalTime>
  <Words>470</Words>
  <Application>Microsoft Office PowerPoint</Application>
  <PresentationFormat>Экран (16:9)</PresentationFormat>
  <Paragraphs>78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Open Sans</vt:lpstr>
      <vt:lpstr>Economica</vt:lpstr>
      <vt:lpstr>Arial</vt:lpstr>
      <vt:lpstr>Шаблон презентації кваліфікаційної роботи магістрів</vt:lpstr>
      <vt:lpstr>Програмна система для пошуку загублених і знайдених домашніх тварин. Вебзастосунок, панель адміністратора</vt:lpstr>
      <vt:lpstr>Мета роботи</vt:lpstr>
      <vt:lpstr>Аналіз існуючих рішень</vt:lpstr>
      <vt:lpstr>Постановка задачі та опис системи</vt:lpstr>
      <vt:lpstr>Вибір технологій розробки </vt:lpstr>
      <vt:lpstr>Програмне забезпечення, що було використано у дослідженні</vt:lpstr>
      <vt:lpstr>Приклад реалізації</vt:lpstr>
      <vt:lpstr>Приклад реалізації</vt:lpstr>
      <vt:lpstr>Архітектура програмного забезпечення</vt:lpstr>
      <vt:lpstr>Інтерфейс користувача </vt:lpstr>
      <vt:lpstr>Інтерфейс користувача</vt:lpstr>
      <vt:lpstr>Інтерфейс користувача </vt:lpstr>
      <vt:lpstr>Інтерфейс користувача </vt:lpstr>
      <vt:lpstr>Інтерфейс користувача </vt:lpstr>
      <vt:lpstr>Інтерфейс користувача </vt:lpstr>
      <vt:lpstr>Підсумки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Іван Холошин</dc:creator>
  <cp:lastModifiedBy>Іван Холошин</cp:lastModifiedBy>
  <cp:revision>23</cp:revision>
  <dcterms:created xsi:type="dcterms:W3CDTF">2026-06-12T14:10:48Z</dcterms:created>
  <dcterms:modified xsi:type="dcterms:W3CDTF">2026-06-13T11:41:45Z</dcterms:modified>
</cp:coreProperties>
</file>